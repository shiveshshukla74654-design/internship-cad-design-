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DESIGN AND ASSEMBLY OF A KNUCKLE JOINT USING SOLIDWORKS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Internship Final Task | Real-World Mechanical CAD Project</a:t>
            </a:r>
            <a:br/>
            <a:r>
              <a:t>SOLIDWORKS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Application-oriented CAD project based on a real mechanical knuckle joint.</a:t>
            </a:r>
          </a:p>
          <a:p>
            <a:pPr>
              <a:spcAft>
                <a:spcPts val="1000"/>
              </a:spcAft>
              <a:defRPr sz="1700"/>
            </a:pPr>
            <a:r>
              <a:t>Three principal components were modelled: fork/double-eye member, single-eye member and knuckle pin.</a:t>
            </a:r>
          </a:p>
          <a:p>
            <a:pPr>
              <a:spcAft>
                <a:spcPts val="1000"/>
              </a:spcAft>
              <a:defRPr sz="1700"/>
            </a:pPr>
            <a:r>
              <a:t>Individual parts were created first and then integrated into a functional assembly.</a:t>
            </a:r>
          </a:p>
          <a:p>
            <a:pPr>
              <a:spcAft>
                <a:spcPts val="1000"/>
              </a:spcAft>
              <a:defRPr sz="1700"/>
            </a:pPr>
            <a:r>
              <a:t>The final model was checked using standard and trimetric views.</a:t>
            </a:r>
          </a:p>
          <a:p>
            <a:pPr>
              <a:spcAft>
                <a:spcPts val="1000"/>
              </a:spcAft>
              <a:defRPr sz="1700"/>
            </a:pPr>
            <a:r>
              <a:t>The project demonstrates a complete mechanical CAD workflow from part creation to assembly inspection.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Understand the construction and working principle of a knuckle joint.</a:t>
            </a:r>
          </a:p>
          <a:p>
            <a:pPr>
              <a:spcAft>
                <a:spcPts val="1000"/>
              </a:spcAft>
              <a:defRPr sz="1700"/>
            </a:pPr>
            <a:r>
              <a:t>Create accurate 3D component models in SOLIDWORKS.</a:t>
            </a:r>
          </a:p>
          <a:p>
            <a:pPr>
              <a:spcAft>
                <a:spcPts val="1000"/>
              </a:spcAft>
              <a:defRPr sz="1700"/>
            </a:pPr>
            <a:r>
              <a:t>Use sketches and feature-based modelling operations effectively.</a:t>
            </a:r>
          </a:p>
          <a:p>
            <a:pPr>
              <a:spcAft>
                <a:spcPts val="1000"/>
              </a:spcAft>
              <a:defRPr sz="1700"/>
            </a:pPr>
            <a:r>
              <a:t>Build the complete assembly using appropriate mates.</a:t>
            </a:r>
          </a:p>
          <a:p>
            <a:pPr>
              <a:spcAft>
                <a:spcPts val="1000"/>
              </a:spcAft>
              <a:defRPr sz="1700"/>
            </a:pPr>
            <a:r>
              <a:t>Verify component alignment and overall assembly geometry.</a:t>
            </a:r>
          </a:p>
          <a:p>
            <a:pPr>
              <a:spcAft>
                <a:spcPts val="1000"/>
              </a:spcAft>
              <a:defRPr sz="1700"/>
            </a:pPr>
            <a:r>
              <a:t>Develop practical skills applicable to mechanical design and manufacturing.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3. Fork / Double-Eye 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Main supporting component of the joint.</a:t>
            </a:r>
          </a:p>
          <a:p>
            <a:pPr>
              <a:spcAft>
                <a:spcPts val="1000"/>
              </a:spcAft>
              <a:defRPr sz="1700"/>
            </a:pPr>
            <a:r>
              <a:t>Contains two aligned lugs with circular holes.</a:t>
            </a:r>
          </a:p>
          <a:p>
            <a:pPr>
              <a:spcAft>
                <a:spcPts val="1000"/>
              </a:spcAft>
              <a:defRPr sz="1700"/>
            </a:pPr>
            <a:r>
              <a:t>Central opening accommodates the single-eye member.</a:t>
            </a:r>
          </a:p>
          <a:p>
            <a:pPr>
              <a:spcAft>
                <a:spcPts val="1000"/>
              </a:spcAft>
              <a:defRPr sz="1700"/>
            </a:pPr>
            <a:r>
              <a:t>Created as a separate SOLIDWORKS part using feature-based modelling.</a:t>
            </a:r>
          </a:p>
        </p:txBody>
      </p:sp>
      <p:pic>
        <p:nvPicPr>
          <p:cNvPr id="4" name="Picture 3" descr="10001866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212080" cy="27655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4. Single-Eye 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Fits between the two lugs of the fork.</a:t>
            </a:r>
          </a:p>
          <a:p>
            <a:pPr>
              <a:spcAft>
                <a:spcPts val="1000"/>
              </a:spcAft>
              <a:defRPr sz="1700"/>
            </a:pPr>
            <a:r>
              <a:t>Contains a circular eye and through-hole for the joint pin.</a:t>
            </a:r>
          </a:p>
          <a:p>
            <a:pPr>
              <a:spcAft>
                <a:spcPts val="1000"/>
              </a:spcAft>
              <a:defRPr sz="1700"/>
            </a:pPr>
            <a:r>
              <a:t>The opposite side forms the connected shank.</a:t>
            </a:r>
          </a:p>
          <a:p>
            <a:pPr>
              <a:spcAft>
                <a:spcPts val="1000"/>
              </a:spcAft>
              <a:defRPr sz="1700"/>
            </a:pPr>
            <a:r>
              <a:t>Geometry is designed to align with the fork during assembly.</a:t>
            </a:r>
          </a:p>
        </p:txBody>
      </p:sp>
      <p:pic>
        <p:nvPicPr>
          <p:cNvPr id="4" name="Picture 3" descr="10001866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212080" cy="27485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5. Knuckle Pin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Cylindrical connecting element and pivot axis of the joint.</a:t>
            </a:r>
          </a:p>
          <a:p>
            <a:pPr>
              <a:spcAft>
                <a:spcPts val="1000"/>
              </a:spcAft>
              <a:defRPr sz="1700"/>
            </a:pPr>
            <a:r>
              <a:t>Passes through the aligned holes of the fork and single-eye member.</a:t>
            </a:r>
          </a:p>
          <a:p>
            <a:pPr>
              <a:spcAft>
                <a:spcPts val="1000"/>
              </a:spcAft>
              <a:defRPr sz="1700"/>
            </a:pPr>
            <a:r>
              <a:t>Includes a head/flange and a transverse retaining-hole feature.</a:t>
            </a:r>
          </a:p>
          <a:p>
            <a:pPr>
              <a:spcAft>
                <a:spcPts val="1000"/>
              </a:spcAft>
              <a:defRPr sz="1700"/>
            </a:pPr>
            <a:r>
              <a:t>Acts as the primary removable connecting element.</a:t>
            </a:r>
          </a:p>
        </p:txBody>
      </p:sp>
      <p:pic>
        <p:nvPicPr>
          <p:cNvPr id="4" name="Picture 3" descr="10001866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212080" cy="27587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6. Assembly Procedure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Insert the fork as the reference component.</a:t>
            </a:r>
          </a:p>
          <a:p>
            <a:pPr>
              <a:spcAft>
                <a:spcPts val="1000"/>
              </a:spcAft>
              <a:defRPr sz="1700"/>
            </a:pPr>
            <a:r>
              <a:t>Place the single-eye member between the fork lugs.</a:t>
            </a:r>
          </a:p>
          <a:p>
            <a:pPr>
              <a:spcAft>
                <a:spcPts val="1000"/>
              </a:spcAft>
              <a:defRPr sz="1700"/>
            </a:pPr>
            <a:r>
              <a:t>Insert the pin through the aligned holes.</a:t>
            </a:r>
          </a:p>
          <a:p>
            <a:pPr>
              <a:spcAft>
                <a:spcPts val="1000"/>
              </a:spcAft>
              <a:defRPr sz="1700"/>
            </a:pPr>
            <a:r>
              <a:t>Apply concentric/coincident-type assembly mates.</a:t>
            </a:r>
          </a:p>
          <a:p>
            <a:pPr>
              <a:spcAft>
                <a:spcPts val="1000"/>
              </a:spcAft>
              <a:defRPr sz="1700"/>
            </a:pPr>
            <a:r>
              <a:t>Check orientation, alignment and relative positioning.</a:t>
            </a:r>
          </a:p>
          <a:p>
            <a:pPr>
              <a:spcAft>
                <a:spcPts val="1000"/>
              </a:spcAft>
              <a:defRPr sz="1700"/>
            </a:pPr>
            <a:r>
              <a:t>Inspect the finished assembly from multiple views.</a:t>
            </a:r>
          </a:p>
        </p:txBody>
      </p:sp>
      <p:pic>
        <p:nvPicPr>
          <p:cNvPr id="4" name="Picture 3" descr="10001866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212080" cy="28232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7. Multi-View Inspection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Front view verifies the overall longitudinal arrangement.</a:t>
            </a:r>
          </a:p>
          <a:p>
            <a:pPr>
              <a:spcAft>
                <a:spcPts val="1000"/>
              </a:spcAft>
              <a:defRPr sz="1700"/>
            </a:pPr>
            <a:r>
              <a:t>Left view helps inspect the pin and lug relationship.</a:t>
            </a:r>
          </a:p>
          <a:p>
            <a:pPr>
              <a:spcAft>
                <a:spcPts val="1000"/>
              </a:spcAft>
              <a:defRPr sz="1700"/>
            </a:pPr>
            <a:r>
              <a:t>Top view verifies the eye, pin and fork alignment.</a:t>
            </a:r>
          </a:p>
          <a:p>
            <a:pPr>
              <a:spcAft>
                <a:spcPts val="1000"/>
              </a:spcAft>
              <a:defRPr sz="1700"/>
            </a:pPr>
            <a:r>
              <a:t>Trimetric view provides a quick overall 3D inspection.</a:t>
            </a:r>
          </a:p>
          <a:p>
            <a:pPr>
              <a:spcAft>
                <a:spcPts val="1000"/>
              </a:spcAft>
              <a:defRPr sz="1700"/>
            </a:pPr>
            <a:r>
              <a:t>Multi-view checking helps identify orientation and assembly errors.</a:t>
            </a:r>
          </a:p>
        </p:txBody>
      </p:sp>
      <p:pic>
        <p:nvPicPr>
          <p:cNvPr id="4" name="Picture 3" descr="10001866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212080" cy="27824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8. 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The fork surrounds the single-eye member.</a:t>
            </a:r>
          </a:p>
          <a:p>
            <a:pPr>
              <a:spcAft>
                <a:spcPts val="1000"/>
              </a:spcAft>
              <a:defRPr sz="1700"/>
            </a:pPr>
            <a:r>
              <a:t>The pin passes through the aligned holes and establishes a common axis.</a:t>
            </a:r>
          </a:p>
          <a:p>
            <a:pPr>
              <a:spcAft>
                <a:spcPts val="1000"/>
              </a:spcAft>
              <a:defRPr sz="1700"/>
            </a:pPr>
            <a:r>
              <a:t>The connection permits controlled angular movement between the connected members.</a:t>
            </a:r>
          </a:p>
          <a:p>
            <a:pPr>
              <a:spcAft>
                <a:spcPts val="1000"/>
              </a:spcAft>
              <a:defRPr sz="1700"/>
            </a:pPr>
            <a:r>
              <a:t>The joint is suitable for mechanical linkages where articulation is required.</a:t>
            </a:r>
          </a:p>
          <a:p>
            <a:pPr>
              <a:spcAft>
                <a:spcPts val="1000"/>
              </a:spcAft>
              <a:defRPr sz="1700"/>
            </a:pPr>
            <a:r>
              <a:t>Actual load capacity depends on dimensions, material, loading and safety factors.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9. Skills and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3D part modelling and sketch interpretation.</a:t>
            </a:r>
          </a:p>
          <a:p>
            <a:pPr>
              <a:spcAft>
                <a:spcPts val="1000"/>
              </a:spcAft>
              <a:defRPr sz="1700"/>
            </a:pPr>
            <a:r>
              <a:t>Feature-tree management and design intent.</a:t>
            </a:r>
          </a:p>
          <a:p>
            <a:pPr>
              <a:spcAft>
                <a:spcPts val="1000"/>
              </a:spcAft>
              <a:defRPr sz="1700"/>
            </a:pPr>
            <a:r>
              <a:t>Mechanical assembly creation and mates.</a:t>
            </a:r>
          </a:p>
          <a:p>
            <a:pPr>
              <a:spcAft>
                <a:spcPts val="1000"/>
              </a:spcAft>
              <a:defRPr sz="1700"/>
            </a:pPr>
            <a:r>
              <a:t>Understanding of real-world joint geometry.</a:t>
            </a:r>
          </a:p>
          <a:p>
            <a:pPr>
              <a:spcAft>
                <a:spcPts val="1000"/>
              </a:spcAft>
              <a:defRPr sz="1700"/>
            </a:pPr>
            <a:r>
              <a:t>Multi-view model inspection.</a:t>
            </a:r>
          </a:p>
          <a:p>
            <a:pPr>
              <a:spcAft>
                <a:spcPts val="1000"/>
              </a:spcAft>
              <a:defRPr sz="1700"/>
            </a:pPr>
            <a:r>
              <a:t>Technical documentation and engineering presentation.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10. Result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Completed CAD assembly of a three-component knuckle joint.</a:t>
            </a:r>
          </a:p>
          <a:p>
            <a:pPr>
              <a:spcAft>
                <a:spcPts val="1000"/>
              </a:spcAft>
              <a:defRPr sz="1700"/>
            </a:pPr>
            <a:r>
              <a:t>Verified the component relationship through multiple views.</a:t>
            </a:r>
          </a:p>
          <a:p>
            <a:pPr>
              <a:spcAft>
                <a:spcPts val="1000"/>
              </a:spcAft>
              <a:defRPr sz="1700"/>
            </a:pPr>
            <a:r>
              <a:t>Future work: engineering drawings, GD&amp;T, material selection and tolerance design.</a:t>
            </a:r>
          </a:p>
          <a:p>
            <a:pPr>
              <a:spcAft>
                <a:spcPts val="1000"/>
              </a:spcAft>
              <a:defRPr sz="1700"/>
            </a:pPr>
            <a:r>
              <a:t>Future work: interference checking and SOLIDWORKS Simulation.</a:t>
            </a:r>
          </a:p>
          <a:p>
            <a:pPr>
              <a:spcAft>
                <a:spcPts val="1000"/>
              </a:spcAft>
              <a:defRPr sz="1700"/>
            </a:pPr>
            <a:r>
              <a:t>Future work: manufacturing planning and design optimization.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/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The project successfully connected mechanical engineering theory with practical CAD modelling.</a:t>
            </a:r>
          </a:p>
          <a:p>
            <a:pPr>
              <a:spcAft>
                <a:spcPts val="1000"/>
              </a:spcAft>
              <a:defRPr sz="1700"/>
            </a:pPr>
            <a:r>
              <a:t>Separate part models were developed and assembled into a complete knuckle joint.</a:t>
            </a:r>
          </a:p>
          <a:p>
            <a:pPr>
              <a:spcAft>
                <a:spcPts val="1000"/>
              </a:spcAft>
              <a:defRPr sz="1700"/>
            </a:pPr>
            <a:r>
              <a:t>The task improved understanding of component compatibility, assembly constraints and design visualization.</a:t>
            </a:r>
          </a:p>
          <a:p>
            <a:pPr>
              <a:spcAft>
                <a:spcPts val="1000"/>
              </a:spcAft>
              <a:defRPr sz="1700"/>
            </a:pPr>
            <a:r>
              <a:t>The completed model provides a foundation for further analysis, detailing and manufacturing documentation.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